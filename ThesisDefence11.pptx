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6FDCC4-9A2F-4824-909F-18803E33B22F}">
  <a:tblStyle styleId="{E36FDCC4-9A2F-4824-909F-18803E33B2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94351b5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94351b5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94351b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94351b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94351b5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d94351b5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94351b5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94351b5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94351b5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94351b5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94351b5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d94351b5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d94351b5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d94351b5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d94351b5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d94351b5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d94351b5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d94351b5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d94351b5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d94351b5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94351b5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d94351b5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d94351b5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d94351b5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d94351b5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d94351b5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94351b5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d94351b5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d94351b5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d94351b5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94351b56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d94351b56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94351b5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d94351b5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76125"/>
            <a:ext cx="8520600" cy="20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Disease Prediction Using Ensemble Learning and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XAI: A Comparative Study on Heart, Diabetes,</a:t>
            </a:r>
            <a:endParaRPr sz="33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 sz="3300"/>
              <a:t>Kidney, Parkinson’s and Breast Cancer Datasets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463525"/>
            <a:ext cx="8520600" cy="22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Fouzia Zilani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ID: 2012176111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Session: 2019-20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Course: CSE4202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of Rajshahi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Early disease diagnosis saves lives and reduces healthcare costs.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Traditional diagnostic systems are </a:t>
            </a:r>
            <a:r>
              <a:rPr b="1" lang="en" sz="1400">
                <a:solidFill>
                  <a:schemeClr val="dk1"/>
                </a:solidFill>
              </a:rPr>
              <a:t>time-consuming</a:t>
            </a:r>
            <a:r>
              <a:rPr lang="en" sz="1400">
                <a:solidFill>
                  <a:schemeClr val="dk1"/>
                </a:solidFill>
              </a:rPr>
              <a:t>, </a:t>
            </a:r>
            <a:r>
              <a:rPr b="1" lang="en" sz="1400">
                <a:solidFill>
                  <a:schemeClr val="dk1"/>
                </a:solidFill>
              </a:rPr>
              <a:t>error-prone</a:t>
            </a:r>
            <a:r>
              <a:rPr lang="en" sz="1400">
                <a:solidFill>
                  <a:schemeClr val="dk1"/>
                </a:solidFill>
              </a:rPr>
              <a:t>, and </a:t>
            </a:r>
            <a:r>
              <a:rPr b="1" lang="en" sz="1400">
                <a:solidFill>
                  <a:schemeClr val="dk1"/>
                </a:solidFill>
              </a:rPr>
              <a:t>inconsistent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ML can detect hidden patterns in medical data.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 current study introduces an </a:t>
            </a:r>
            <a:r>
              <a:rPr b="1" lang="en" sz="1400">
                <a:solidFill>
                  <a:schemeClr val="dk1"/>
                </a:solidFill>
              </a:rPr>
              <a:t>ensemble-based predictive framework</a:t>
            </a:r>
            <a:r>
              <a:rPr lang="en" sz="1400">
                <a:solidFill>
                  <a:schemeClr val="dk1"/>
                </a:solidFill>
              </a:rPr>
              <a:t> supported by </a:t>
            </a:r>
            <a:r>
              <a:rPr b="1" lang="en" sz="1400">
                <a:solidFill>
                  <a:schemeClr val="dk1"/>
                </a:solidFill>
              </a:rPr>
              <a:t>Explainable Artificial Intelligence (XAI)</a:t>
            </a:r>
            <a:r>
              <a:rPr lang="en" sz="1400">
                <a:solidFill>
                  <a:schemeClr val="dk1"/>
                </a:solidFill>
              </a:rPr>
              <a:t> for five major diseases: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Heart Disease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Diabetes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Chronic Kidney Disease (CKD)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Parkinson’s Disease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Breast Cancer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 goal is to design a </a:t>
            </a:r>
            <a:r>
              <a:rPr b="1" lang="en" sz="1400">
                <a:solidFill>
                  <a:schemeClr val="dk1"/>
                </a:solidFill>
              </a:rPr>
              <a:t>transparent, generalizable, and accurate diagnostic system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/>
          </a:p>
        </p:txBody>
      </p:sp>
      <p:sp>
        <p:nvSpPr>
          <p:cNvPr id="62" name="Google Shape;62;p14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2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We Solved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Challenges in prior research: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Models lacked consistency across datasets.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Class imbalance reduced performance on disease-positive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Doctors could not interpret model’s decision.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Our Solution: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Used </a:t>
            </a:r>
            <a:r>
              <a:rPr b="1" lang="en" sz="1400">
                <a:solidFill>
                  <a:schemeClr val="dk1"/>
                </a:solidFill>
              </a:rPr>
              <a:t>SMOTETomek</a:t>
            </a:r>
            <a:r>
              <a:rPr lang="en" sz="1400">
                <a:solidFill>
                  <a:schemeClr val="dk1"/>
                </a:solidFill>
              </a:rPr>
              <a:t> to balance data and remove noise.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Built </a:t>
            </a:r>
            <a:r>
              <a:rPr b="1" lang="en" sz="1400">
                <a:solidFill>
                  <a:schemeClr val="dk1"/>
                </a:solidFill>
              </a:rPr>
              <a:t>Ensemble Model (Soft Voting)</a:t>
            </a:r>
            <a:r>
              <a:rPr lang="en" sz="1400">
                <a:solidFill>
                  <a:schemeClr val="dk1"/>
                </a:solidFill>
              </a:rPr>
              <a:t> combining Random Forest, XGBoost, LightGBM, CatBoost, SVM, and LR.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Integrated </a:t>
            </a:r>
            <a:r>
              <a:rPr b="1" lang="en" sz="1400">
                <a:solidFill>
                  <a:schemeClr val="dk1"/>
                </a:solidFill>
              </a:rPr>
              <a:t>SHAP and LIME</a:t>
            </a:r>
            <a:r>
              <a:rPr lang="en" sz="1400">
                <a:solidFill>
                  <a:schemeClr val="dk1"/>
                </a:solidFill>
              </a:rPr>
              <a:t> to explain predictions.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Result: A </a:t>
            </a:r>
            <a:r>
              <a:rPr i="1" lang="en" sz="1400">
                <a:solidFill>
                  <a:schemeClr val="dk1"/>
                </a:solidFill>
              </a:rPr>
              <a:t>robust and interpretable framework</a:t>
            </a:r>
            <a:r>
              <a:rPr lang="en" sz="1400">
                <a:solidFill>
                  <a:schemeClr val="dk1"/>
                </a:solidFill>
              </a:rPr>
              <a:t> that performs well for </a:t>
            </a:r>
            <a:r>
              <a:rPr b="1" lang="en" sz="1400">
                <a:solidFill>
                  <a:schemeClr val="dk1"/>
                </a:solidFill>
              </a:rPr>
              <a:t>five major diseases.</a:t>
            </a:r>
            <a:endParaRPr b="1"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3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Objectives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Develop independent predictive models for five diseases.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Apply advanced data preprocessing: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Missing value handling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Feature scaling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Encoding categorical features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balancing (SMOTETomek)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Train and optimize base classifiers: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	</a:t>
            </a:r>
            <a:r>
              <a:rPr lang="en" sz="1400">
                <a:solidFill>
                  <a:schemeClr val="dk1"/>
                </a:solidFill>
              </a:rPr>
              <a:t>Random Forest, XGBoost, LightGBM, CatBoost, SVM, and Logistic Regression.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Construct an </a:t>
            </a:r>
            <a:r>
              <a:rPr b="1" lang="en" sz="1400">
                <a:solidFill>
                  <a:schemeClr val="dk1"/>
                </a:solidFill>
              </a:rPr>
              <a:t>Ensemble Soft Voting Classifier</a:t>
            </a:r>
            <a:r>
              <a:rPr lang="en" sz="1400">
                <a:solidFill>
                  <a:schemeClr val="dk1"/>
                </a:solidFill>
              </a:rPr>
              <a:t> for improved robustness.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Evaluate models using </a:t>
            </a:r>
            <a:r>
              <a:rPr b="1" lang="en" sz="1400">
                <a:solidFill>
                  <a:schemeClr val="dk1"/>
                </a:solidFill>
              </a:rPr>
              <a:t>Accuracy, Precision, Recall, F1-Score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Apply </a:t>
            </a:r>
            <a:r>
              <a:rPr b="1" lang="en" sz="1400">
                <a:solidFill>
                  <a:schemeClr val="dk1"/>
                </a:solidFill>
              </a:rPr>
              <a:t>SHAP and LIME</a:t>
            </a:r>
            <a:r>
              <a:rPr lang="en" sz="1400">
                <a:solidFill>
                  <a:schemeClr val="dk1"/>
                </a:solidFill>
              </a:rPr>
              <a:t> for explainability of model predictions.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4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of the Proposed System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Dataset Collection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Data Cleaning &amp; Preprocessing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SMOTETomek Balancing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Feature Scaling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Train Base Models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Ensemble Voting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Model Evaluation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XAI (SHAP &amp; LIME) Interpretation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Model Evaluation &amp; Deployment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477950" y="1147175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477950" y="1544050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477950" y="1940925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477950" y="2337800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477950" y="2734675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477950" y="3131550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477950" y="3528425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477950" y="3867125"/>
            <a:ext cx="1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↓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5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Used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All datasets were obtained from </a:t>
            </a:r>
            <a:r>
              <a:rPr b="1" lang="en" sz="1400">
                <a:solidFill>
                  <a:schemeClr val="dk1"/>
                </a:solidFill>
              </a:rPr>
              <a:t>UCI Machine Learning Repository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98" name="Google Shape;98;p1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{E36FDCC4-9A2F-4824-909F-18803E33B22F}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Disease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Samples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 + 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Diabetes (PIMA)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CKD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Mixed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Parkinson’s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Breast Cancer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Numeric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9" name="Google Shape;99;p18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6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Steps implemented for all datasets: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Missing Data Handling: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Mean/median imputation for missing lab values (e.g., hemoglobin, albumin).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Encoding: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Label or One-Hot Encoding for categorical variables.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Outlier Treatment: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Threshold-based filtering to handle extreme medical readings.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Feature Scaling: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StandardScaler applied to normalize feature ranges.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Train-Test Split: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Stratified 80:20 split to maintain class balance.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7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2500"/>
              <a:t>Handling Class Imbalance – SMOTETomek</a:t>
            </a:r>
            <a:endParaRPr sz="250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Medical datasets often have </a:t>
            </a:r>
            <a:r>
              <a:rPr b="1" lang="en" sz="1400">
                <a:solidFill>
                  <a:schemeClr val="dk1"/>
                </a:solidFill>
              </a:rPr>
              <a:t>fewer disease-positive cases</a:t>
            </a:r>
            <a:r>
              <a:rPr lang="en" sz="1400">
                <a:solidFill>
                  <a:schemeClr val="dk1"/>
                </a:solidFill>
              </a:rPr>
              <a:t> than healthy ones.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Used </a:t>
            </a:r>
            <a:r>
              <a:rPr b="1" lang="en" sz="1400">
                <a:solidFill>
                  <a:schemeClr val="dk1"/>
                </a:solidFill>
              </a:rPr>
              <a:t>SMOTETomek</a:t>
            </a:r>
            <a:r>
              <a:rPr lang="en" sz="1400">
                <a:solidFill>
                  <a:schemeClr val="dk1"/>
                </a:solidFill>
              </a:rPr>
              <a:t>, a hybrid method that: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SMOTE:</a:t>
            </a:r>
            <a:r>
              <a:rPr lang="en" sz="1400">
                <a:solidFill>
                  <a:schemeClr val="dk1"/>
                </a:solidFill>
              </a:rPr>
              <a:t> Creates synthetic minority samples.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Tomek Links:</a:t>
            </a:r>
            <a:r>
              <a:rPr lang="en" sz="1400">
                <a:solidFill>
                  <a:schemeClr val="dk1"/>
                </a:solidFill>
              </a:rPr>
              <a:t> Removes borderline and noisy samples.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Advantages: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Prevents bias toward the majority class.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Increases sensitivity (recall) for disease-positive samples.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Produces cleaner decision boundaries for classifiers.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8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9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172175" y="4267713"/>
            <a:ext cx="26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&amp; Cleaner Dataset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for Model Training Only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3241475" y="692725"/>
            <a:ext cx="24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Imbalanced Training Dataset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3280325" y="1293013"/>
            <a:ext cx="23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Analyze Class Distribution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505275" y="1909275"/>
            <a:ext cx="394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SMOTE Oversampling Generate Synthetic Samples for Minority Class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3082925" y="2669775"/>
            <a:ext cx="279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Tomek Links Detection Identify Overlapping &amp; Borderline Noise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711375" y="3439275"/>
            <a:ext cx="353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Remove Tomek Links Clean Ambiguous Boundary Samples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5" name="Google Shape;125;p21"/>
          <p:cNvCxnSpPr>
            <a:stCxn id="120" idx="2"/>
            <a:endCxn id="121" idx="0"/>
          </p:cNvCxnSpPr>
          <p:nvPr/>
        </p:nvCxnSpPr>
        <p:spPr>
          <a:xfrm>
            <a:off x="4479275" y="1092925"/>
            <a:ext cx="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1"/>
          <p:cNvCxnSpPr>
            <a:stCxn id="121" idx="2"/>
            <a:endCxn id="122" idx="0"/>
          </p:cNvCxnSpPr>
          <p:nvPr/>
        </p:nvCxnSpPr>
        <p:spPr>
          <a:xfrm>
            <a:off x="4479275" y="1693213"/>
            <a:ext cx="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1"/>
          <p:cNvCxnSpPr>
            <a:stCxn id="122" idx="2"/>
            <a:endCxn id="123" idx="0"/>
          </p:cNvCxnSpPr>
          <p:nvPr/>
        </p:nvCxnSpPr>
        <p:spPr>
          <a:xfrm>
            <a:off x="4479275" y="2524875"/>
            <a:ext cx="0" cy="1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1"/>
          <p:cNvCxnSpPr>
            <a:stCxn id="123" idx="2"/>
            <a:endCxn id="124" idx="0"/>
          </p:cNvCxnSpPr>
          <p:nvPr/>
        </p:nvCxnSpPr>
        <p:spPr>
          <a:xfrm>
            <a:off x="4479275" y="3285375"/>
            <a:ext cx="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1"/>
          <p:cNvCxnSpPr>
            <a:stCxn id="124" idx="2"/>
          </p:cNvCxnSpPr>
          <p:nvPr/>
        </p:nvCxnSpPr>
        <p:spPr>
          <a:xfrm>
            <a:off x="4479275" y="4054875"/>
            <a:ext cx="0" cy="2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1"/>
          <p:cNvSpPr txBox="1"/>
          <p:nvPr/>
        </p:nvSpPr>
        <p:spPr>
          <a:xfrm>
            <a:off x="291500" y="231025"/>
            <a:ext cx="866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Pipeline for SMOTETomek-based class balancing: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Machine Learning Models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Six base classifiers were trained per disease dataset: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Logistic Regression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Random Forest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Support Vector Machine (SVM)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XGBoost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LightGBM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CatBoost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Each model tuned using grid search for optimal parameters.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CatBoost performed best with categorical data; XGBoost excelled in tabular numeric datasets.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Base models’ performance guided ensemble weighting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10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Learning Approach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Soft Voting Ensemble</a:t>
            </a:r>
            <a:r>
              <a:rPr lang="en" sz="1400">
                <a:solidFill>
                  <a:schemeClr val="dk1"/>
                </a:solidFill>
              </a:rPr>
              <a:t> was implemented to integrate predictions from multiple models.</a:t>
            </a:r>
            <a:br>
              <a:rPr lang="en" sz="1400">
                <a:solidFill>
                  <a:schemeClr val="dk1"/>
                </a:solidFill>
              </a:rPr>
            </a:br>
            <a:r>
              <a:rPr b="1" lang="en" sz="1400">
                <a:solidFill>
                  <a:schemeClr val="dk1"/>
                </a:solidFill>
              </a:rPr>
              <a:t>Formula: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Where wi = weight of classifier i, Pi(c∣x) = predicted probability.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Combines strengths of individual models → improved generalization.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Reduces overfitting and variance.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Achieves stable predictions across all five diseases.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11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5" name="Google Shape;145;p23" title="Screenshot 2025-10-28 at 6.29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600" y="1338150"/>
            <a:ext cx="2954650" cy="9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Metrics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To ensure clinically meaningful evaluation: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Accuracy:</a:t>
            </a:r>
            <a:r>
              <a:rPr lang="en" sz="1400">
                <a:solidFill>
                  <a:schemeClr val="dk1"/>
                </a:solidFill>
              </a:rPr>
              <a:t> Overall correctness.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Precision:</a:t>
            </a:r>
            <a:r>
              <a:rPr lang="en" sz="1400">
                <a:solidFill>
                  <a:schemeClr val="dk1"/>
                </a:solidFill>
              </a:rPr>
              <a:t> Reliability of positive predictions.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Recall (Sensitivity):</a:t>
            </a:r>
            <a:r>
              <a:rPr lang="en" sz="1400">
                <a:solidFill>
                  <a:schemeClr val="dk1"/>
                </a:solidFill>
              </a:rPr>
              <a:t> Ability to detect true disease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F1-Score:</a:t>
            </a:r>
            <a:r>
              <a:rPr lang="en" sz="1400">
                <a:solidFill>
                  <a:schemeClr val="dk1"/>
                </a:solidFill>
              </a:rPr>
              <a:t> Balance between Precision &amp; Recall.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Confusion Matrix:</a:t>
            </a:r>
            <a:r>
              <a:rPr lang="en" sz="1400">
                <a:solidFill>
                  <a:schemeClr val="dk1"/>
                </a:solidFill>
              </a:rPr>
              <a:t> Shows TP, FP, FN, TN — crucial in clinical evaluation.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In healthcare, </a:t>
            </a:r>
            <a:r>
              <a:rPr b="1" lang="en" sz="1400">
                <a:solidFill>
                  <a:schemeClr val="dk1"/>
                </a:solidFill>
              </a:rPr>
              <a:t>False Negatives (FN)</a:t>
            </a:r>
            <a:r>
              <a:rPr lang="en" sz="1400">
                <a:solidFill>
                  <a:schemeClr val="dk1"/>
                </a:solidFill>
              </a:rPr>
              <a:t> are more critical than False Positives.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12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Artificial Intelligence (XAI)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To interpret model predictions, two XAI tools were used: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SHAP (SHapley Additive exPlanations):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Based on cooperative game theory.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Quantifies contribution of each feature to the prediction.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Provides both </a:t>
            </a:r>
            <a:r>
              <a:rPr b="1" lang="en">
                <a:solidFill>
                  <a:schemeClr val="dk1"/>
                </a:solidFill>
              </a:rPr>
              <a:t>global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local</a:t>
            </a:r>
            <a:r>
              <a:rPr lang="en">
                <a:solidFill>
                  <a:schemeClr val="dk1"/>
                </a:solidFill>
              </a:rPr>
              <a:t> interpretability.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LIME (Local Interpretable Model-Agnostic Explanations):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Locally approximates the model around a specific prediction.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Helps explain why an individual patient was classified as diseased or healthy.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Improves model transparency and clinician trust.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13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 title="XAIp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975" y="717761"/>
            <a:ext cx="7188051" cy="39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14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84625" y="159850"/>
            <a:ext cx="78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SHAP and LIME based Explainability Framework for Disease Diagnosis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Results – Accuracy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</a:rPr>
              <a:t>Ensemble models outperform single classifiers.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</a:rPr>
              <a:t>CKD and Breast Cancer show near-perfect accuracy due to distinct biomarkers.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</a:rPr>
              <a:t>Heart and Diabetes models improved significantly with SMOTETomek balancing.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73" name="Google Shape;173;p27"/>
          <p:cNvGraphicFramePr/>
          <p:nvPr/>
        </p:nvGraphicFramePr>
        <p:xfrm>
          <a:off x="886675" y="102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{E36FDCC4-9A2F-4824-909F-18803E33B22F}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Disease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Accuracy (%)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Heart Disease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Diabetes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CKD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Parkinson’s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Breast Cancer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4" name="Google Shape;174;p27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15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Discussion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Ensemble models demonstrated </a:t>
            </a:r>
            <a:r>
              <a:rPr b="1" lang="en" sz="1400">
                <a:solidFill>
                  <a:schemeClr val="dk1"/>
                </a:solidFill>
              </a:rPr>
              <a:t>higher accuracy and stability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SHAP and LIME improved model </a:t>
            </a:r>
            <a:r>
              <a:rPr b="1" lang="en" sz="1400">
                <a:solidFill>
                  <a:schemeClr val="dk1"/>
                </a:solidFill>
              </a:rPr>
              <a:t>transparency and clinical trust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Class balancing techniques enhanced model </a:t>
            </a:r>
            <a:r>
              <a:rPr b="1" lang="en" sz="1400">
                <a:solidFill>
                  <a:schemeClr val="dk1"/>
                </a:solidFill>
              </a:rPr>
              <a:t>sensitivity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Results validate that </a:t>
            </a:r>
            <a:r>
              <a:rPr b="1" lang="en" sz="1400">
                <a:solidFill>
                  <a:schemeClr val="dk1"/>
                </a:solidFill>
              </a:rPr>
              <a:t>Explainable Ensemble Learning</a:t>
            </a:r>
            <a:r>
              <a:rPr lang="en" sz="1400">
                <a:solidFill>
                  <a:schemeClr val="dk1"/>
                </a:solidFill>
              </a:rPr>
              <a:t> is effective for medical prediction tasks.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Framework can be extended to </a:t>
            </a:r>
            <a:r>
              <a:rPr b="1" lang="en" sz="1400">
                <a:solidFill>
                  <a:schemeClr val="dk1"/>
                </a:solidFill>
              </a:rPr>
              <a:t>multi-modal or multi-disease prediction systems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16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26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893300"/>
            <a:ext cx="8520600" cy="3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Conclusion: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Developed ensemble-based, explainable AI models for five diseases.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Achieved high accuracy and interpretability.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XAI ensures transparency in AI-assisted diagnosis.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Future Work: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Integrate genetic, imaging, and clinical data for multi-modal prediction.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Develop real-time hospital deployment system.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Explore deep ensemble and federated learning for privacy-preserving diagnostics.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8127000" y="4626325"/>
            <a:ext cx="70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17</a:t>
            </a:r>
            <a:r>
              <a:rPr lang="en" sz="1000">
                <a:solidFill>
                  <a:schemeClr val="dk1"/>
                </a:solidFill>
              </a:rPr>
              <a:t> of 18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587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