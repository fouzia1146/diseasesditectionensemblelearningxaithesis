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71" r:id="rId4"/>
    <p:sldId id="263" r:id="rId5"/>
    <p:sldId id="267" r:id="rId6"/>
    <p:sldId id="268" r:id="rId7"/>
    <p:sldId id="269" r:id="rId8"/>
    <p:sldId id="270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66A7E7-675B-CA6F-A61E-94B9BC2D460E}" v="587" dt="2025-05-12T22:59:03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90092"/>
            <a:ext cx="9144000" cy="1285790"/>
          </a:xfrm>
        </p:spPr>
        <p:txBody>
          <a:bodyPr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Disease Detection Using Ensemble Learning , Transfer Learning and Explainable AI Techniques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79849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i="1">
                <a:ea typeface="+mn-lt"/>
                <a:cs typeface="+mn-lt"/>
              </a:rPr>
              <a:t>Improving Accuracy &amp; Trust in AI-Driven Medical Diagnosis</a:t>
            </a:r>
            <a:endParaRPr lang="en-US" sz="2000" i="1"/>
          </a:p>
          <a:p>
            <a:r>
              <a:rPr lang="en-US" sz="2000" i="1"/>
              <a:t>Fouzia Zilani</a:t>
            </a:r>
          </a:p>
          <a:p>
            <a:r>
              <a:rPr lang="en-US" sz="2000" i="1"/>
              <a:t>2012176111</a:t>
            </a:r>
          </a:p>
        </p:txBody>
      </p:sp>
    </p:spTree>
    <p:extLst>
      <p:ext uri="{BB962C8B-B14F-4D97-AF65-F5344CB8AC3E}">
        <p14:creationId xmlns:p14="http://schemas.microsoft.com/office/powerpoint/2010/main" val="3611664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40466-919B-A89E-8CAA-8E24F636C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950"/>
            <a:ext cx="10515600" cy="55870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Introduction</a:t>
            </a:r>
            <a:endParaRPr lang="en-US" sz="3600" b="1" dirty="0"/>
          </a:p>
          <a:p>
            <a:r>
              <a:rPr lang="en-US" dirty="0">
                <a:ea typeface="+mn-lt"/>
                <a:cs typeface="+mn-lt"/>
              </a:rPr>
              <a:t>What is Disease Detection using AI?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     AI models help doctors in predicting diseases based on patient data.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     Helps in early diagnosis, reducing human errors, and improving treatment planning.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Challenges in Current AI-based Disease Detection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  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Lack of interpretability (black-box AI models are not trusted by doctors).</a:t>
            </a:r>
            <a:endParaRPr lang="en-US" sz="20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    Data imbalance (rare diseases have less data, leading to biased predictions).</a:t>
            </a:r>
            <a:endParaRPr lang="en-US" sz="2000" dirty="0"/>
          </a:p>
          <a:p>
            <a:r>
              <a:rPr lang="en-US" dirty="0">
                <a:ea typeface="+mn-lt"/>
                <a:cs typeface="+mn-lt"/>
              </a:rPr>
              <a:t>Solution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>
                <a:ea typeface="+mn-lt"/>
                <a:cs typeface="+mn-lt"/>
              </a:rPr>
              <a:t>Hybrid method: Combining Transfer Learning + Ensemble Learning.</a:t>
            </a:r>
          </a:p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    </a:t>
            </a:r>
            <a:r>
              <a:rPr lang="en-US" sz="2000" dirty="0">
                <a:ea typeface="+mn-lt"/>
                <a:cs typeface="+mn-lt"/>
              </a:rPr>
              <a:t>Explainability: Using SHAP &amp; LIME to make AI decisions transparent.</a:t>
            </a:r>
            <a:endParaRPr lang="en-US" dirty="0"/>
          </a:p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Key Outcome: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Higher accuracy</a:t>
            </a:r>
            <a:r>
              <a:rPr lang="en-US" sz="2000" b="1" dirty="0">
                <a:latin typeface="Open Sans"/>
                <a:ea typeface="Open Sans"/>
                <a:cs typeface="Open Sans"/>
              </a:rPr>
              <a:t>, generalizable</a:t>
            </a:r>
            <a:r>
              <a:rPr lang="en-US" sz="2000" b="1" dirty="0">
                <a:solidFill>
                  <a:srgbClr val="191919"/>
                </a:solidFill>
                <a:latin typeface="Open Sans"/>
                <a:ea typeface="Open Sans"/>
                <a:cs typeface="Open Sans"/>
              </a:rPr>
              <a:t>, and reliable AI predictions</a:t>
            </a:r>
            <a:r>
              <a:rPr lang="en-US" sz="2000" b="1" dirty="0">
                <a:solidFill>
                  <a:srgbClr val="B64F00"/>
                </a:solidFill>
                <a:latin typeface="Open Sans"/>
                <a:ea typeface="Open Sans"/>
                <a:cs typeface="Open Sans"/>
              </a:rPr>
              <a:t>.</a:t>
            </a:r>
            <a:endParaRPr lang="en-US" sz="2000" b="1" dirty="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041696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184CE-5EBE-FF51-65A1-0E4C82482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7869"/>
            <a:ext cx="10515600" cy="56590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dirty="0">
                <a:ea typeface="+mn-lt"/>
                <a:cs typeface="+mn-lt"/>
              </a:rPr>
              <a:t>What I Did</a:t>
            </a:r>
            <a:endParaRPr lang="en-US" sz="3600" b="1" dirty="0"/>
          </a:p>
          <a:p>
            <a:r>
              <a:rPr lang="en-US" sz="2000" dirty="0">
                <a:ea typeface="+mn-lt"/>
                <a:cs typeface="+mn-lt"/>
              </a:rPr>
              <a:t>Collected multiple healthcare datasets (Heart, Diabetes, Parkinson’s, Kidney, Breast Cancer).</a:t>
            </a:r>
          </a:p>
          <a:p>
            <a:r>
              <a:rPr lang="en-US" sz="2000" dirty="0">
                <a:ea typeface="+mn-lt"/>
                <a:cs typeface="+mn-lt"/>
              </a:rPr>
              <a:t>Reviewed research papers and thesis work related to:</a:t>
            </a:r>
          </a:p>
          <a:p>
            <a:pPr lvl="1"/>
            <a:r>
              <a:rPr lang="en-US" sz="2000" dirty="0">
                <a:ea typeface="+mn-lt"/>
                <a:cs typeface="+mn-lt"/>
              </a:rPr>
              <a:t>Machine Learning (SVM, Decision Trees, Random Forest)</a:t>
            </a:r>
            <a:endParaRPr lang="en-US" sz="2000"/>
          </a:p>
          <a:p>
            <a:pPr lvl="1"/>
            <a:r>
              <a:rPr lang="en-US" sz="2000" dirty="0">
                <a:ea typeface="+mn-lt"/>
                <a:cs typeface="+mn-lt"/>
              </a:rPr>
              <a:t>Deep Learning (ANN, CNN)</a:t>
            </a:r>
            <a:endParaRPr lang="en-US" sz="2000" dirty="0"/>
          </a:p>
          <a:p>
            <a:pPr lvl="1"/>
            <a:r>
              <a:rPr lang="en-US" sz="2000" dirty="0">
                <a:ea typeface="+mn-lt"/>
                <a:cs typeface="+mn-lt"/>
              </a:rPr>
              <a:t>Transfer Learning &amp; Explainability (SHAP, LIME)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Analyzed gaps in current approaches.</a:t>
            </a:r>
            <a:endParaRPr lang="en-US" sz="2000" dirty="0"/>
          </a:p>
          <a:p>
            <a:r>
              <a:rPr lang="en-US" b="1" dirty="0"/>
              <a:t>Datasets:</a:t>
            </a:r>
            <a:endParaRPr lang="en-US" dirty="0"/>
          </a:p>
          <a:p>
            <a:r>
              <a:rPr lang="en-US" sz="2000" dirty="0"/>
              <a:t>UCI Heart Disease Dataset</a:t>
            </a:r>
          </a:p>
          <a:p>
            <a:r>
              <a:rPr lang="en-US" sz="2000" dirty="0"/>
              <a:t>Diabetes Dataset</a:t>
            </a:r>
          </a:p>
          <a:p>
            <a:r>
              <a:rPr lang="en-US" sz="2000" dirty="0"/>
              <a:t>Parkinson’s Dataset</a:t>
            </a:r>
          </a:p>
          <a:p>
            <a:r>
              <a:rPr lang="en-US" sz="2000" dirty="0"/>
              <a:t>Kidney Dataset</a:t>
            </a:r>
          </a:p>
          <a:p>
            <a:r>
              <a:rPr lang="en-US" sz="2000" dirty="0"/>
              <a:t>Breast Cancer Dataset</a:t>
            </a:r>
            <a:endParaRPr lang="en-US" dirty="0"/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924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8D8D7-3FD9-FDE7-71F1-7A0AEC9F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178E7-95A3-C702-509F-A97B32652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950"/>
            <a:ext cx="10515600" cy="55870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Why I Did It</a:t>
            </a:r>
            <a:endParaRPr lang="en-US" b="1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Current AI models are often black boxes, doctors can’t trust what they don’t understand.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Many models fail to generalize due to imbalanced data or overfitting.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dirty="0">
                <a:latin typeface="Open Sans"/>
                <a:ea typeface="Open Sans"/>
                <a:cs typeface="Open Sans"/>
              </a:rPr>
              <a:t>It requires</a:t>
            </a:r>
            <a:r>
              <a:rPr lang="en-US" sz="2000" dirty="0">
                <a:solidFill>
                  <a:srgbClr val="B64F00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2000" dirty="0">
                <a:solidFill>
                  <a:srgbClr val="191919"/>
                </a:solidFill>
                <a:latin typeface="Open Sans"/>
                <a:ea typeface="Open Sans"/>
                <a:cs typeface="Open Sans"/>
              </a:rPr>
              <a:t>a </a:t>
            </a:r>
            <a:r>
              <a:rPr lang="en-US" sz="2000" dirty="0">
                <a:latin typeface="Open Sans"/>
                <a:ea typeface="Open Sans"/>
                <a:cs typeface="Open Sans"/>
              </a:rPr>
              <a:t>model </a:t>
            </a:r>
            <a:r>
              <a:rPr lang="en-US" sz="2000" dirty="0">
                <a:solidFill>
                  <a:srgbClr val="191919"/>
                </a:solidFill>
                <a:latin typeface="Open Sans"/>
                <a:ea typeface="Open Sans"/>
                <a:cs typeface="Open Sans"/>
              </a:rPr>
              <a:t>that</a:t>
            </a:r>
            <a:r>
              <a:rPr lang="en-US" sz="2000" dirty="0">
                <a:ea typeface="+mn-lt"/>
                <a:cs typeface="+mn-lt"/>
              </a:rPr>
              <a:t> combines </a:t>
            </a:r>
            <a:r>
              <a:rPr lang="en-US" sz="2000" b="1" dirty="0">
                <a:ea typeface="+mn-lt"/>
                <a:cs typeface="+mn-lt"/>
              </a:rPr>
              <a:t>accuracy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b="1" dirty="0">
                <a:ea typeface="+mn-lt"/>
                <a:cs typeface="+mn-lt"/>
              </a:rPr>
              <a:t>transparency</a:t>
            </a:r>
            <a:r>
              <a:rPr lang="en-US" sz="2000" dirty="0">
                <a:ea typeface="+mn-lt"/>
                <a:cs typeface="+mn-lt"/>
              </a:rPr>
              <a:t>, and </a:t>
            </a:r>
            <a:r>
              <a:rPr lang="en-US" sz="2000" b="1" dirty="0">
                <a:ea typeface="+mn-lt"/>
                <a:cs typeface="+mn-lt"/>
              </a:rPr>
              <a:t>reliability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None/>
            </a:pPr>
            <a:r>
              <a:rPr lang="en-US" sz="3600" b="1" dirty="0"/>
              <a:t>Requirement Specification</a:t>
            </a:r>
            <a:endParaRPr lang="en-US" sz="3600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Datasets: UCI Heart, Diabetes, Parkinson’s, Kidney, Breast Cancer.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Tools: Python, Scikit-learn, </a:t>
            </a:r>
            <a:r>
              <a:rPr lang="en-US" sz="2000" dirty="0" err="1">
                <a:ea typeface="+mn-lt"/>
                <a:cs typeface="+mn-lt"/>
              </a:rPr>
              <a:t>PyTorch</a:t>
            </a:r>
            <a:r>
              <a:rPr lang="en-US" sz="2000" dirty="0">
                <a:ea typeface="+mn-lt"/>
                <a:cs typeface="+mn-lt"/>
              </a:rPr>
              <a:t>/TensorFlow, SHAP, LIME.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Models required:</a:t>
            </a:r>
            <a:endParaRPr lang="en-US" sz="2000" dirty="0"/>
          </a:p>
          <a:p>
            <a:pPr marL="971550" lvl="1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Pre-trained Tabular models (</a:t>
            </a:r>
            <a:r>
              <a:rPr lang="en-US" sz="2000" dirty="0" err="1">
                <a:ea typeface="+mn-lt"/>
                <a:cs typeface="+mn-lt"/>
              </a:rPr>
              <a:t>TabNet</a:t>
            </a:r>
            <a:r>
              <a:rPr lang="en-US" sz="2000" dirty="0">
                <a:ea typeface="+mn-lt"/>
                <a:cs typeface="+mn-lt"/>
              </a:rPr>
              <a:t>, SAINT)</a:t>
            </a:r>
            <a:endParaRPr lang="en-US" sz="2000" dirty="0"/>
          </a:p>
          <a:p>
            <a:pPr marL="971550" lvl="1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Ensemble models (</a:t>
            </a:r>
            <a:r>
              <a:rPr lang="en-US" sz="2000" err="1">
                <a:ea typeface="+mn-lt"/>
                <a:cs typeface="+mn-lt"/>
              </a:rPr>
              <a:t>XGBoost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LightGBM</a:t>
            </a:r>
            <a:r>
              <a:rPr lang="en-US" sz="2000" dirty="0">
                <a:ea typeface="+mn-lt"/>
                <a:cs typeface="+mn-lt"/>
              </a:rPr>
              <a:t>, Random Forest)</a:t>
            </a:r>
            <a:endParaRPr lang="en-US" sz="2000" dirty="0"/>
          </a:p>
          <a:p>
            <a:pPr>
              <a:buNone/>
            </a:pPr>
            <a:endParaRPr lang="en-US" sz="3600" b="1" dirty="0"/>
          </a:p>
          <a:p>
            <a:pPr marL="0" indent="0">
              <a:buNone/>
            </a:pPr>
            <a:endParaRPr lang="en-US" sz="2000" dirty="0"/>
          </a:p>
          <a:p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80444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533E4-5E4C-3069-EFBD-EE26CC33B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D39AF-98E2-8925-1C59-462D46B66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1734"/>
            <a:ext cx="10515600" cy="5525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Methodologies : </a:t>
            </a:r>
            <a:endParaRPr lang="en-US" b="1" dirty="0"/>
          </a:p>
          <a:p>
            <a:pPr marL="0" indent="0">
              <a:buNone/>
            </a:pPr>
            <a:r>
              <a:rPr lang="en-US" sz="2000" dirty="0"/>
              <a:t>1.Input: Patient symptoms (Example: fever, sugar, cough, etc.).</a:t>
            </a:r>
          </a:p>
          <a:p>
            <a:pPr marL="0" indent="0">
              <a:buNone/>
            </a:pPr>
            <a:r>
              <a:rPr lang="en-US" sz="2000" dirty="0"/>
              <a:t>2.Filling missing value in datasets and normalizing the values.</a:t>
            </a:r>
          </a:p>
          <a:p>
            <a:pPr marL="0" indent="0">
              <a:buNone/>
            </a:pPr>
            <a:r>
              <a:rPr lang="en-US" sz="2000" dirty="0"/>
              <a:t>3.Splitting datasets into training and testing data.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4.Extracting features from symptoms using transfer learning from pretrained model (Example: </a:t>
            </a:r>
            <a:r>
              <a:rPr lang="en-US" sz="2000" dirty="0" err="1">
                <a:ea typeface="+mn-lt"/>
                <a:cs typeface="+mn-lt"/>
              </a:rPr>
              <a:t>TabNet</a:t>
            </a:r>
            <a:r>
              <a:rPr lang="en-US" sz="2000" dirty="0">
                <a:ea typeface="+mn-lt"/>
                <a:cs typeface="+mn-lt"/>
              </a:rPr>
              <a:t>, SAINT).</a:t>
            </a:r>
          </a:p>
          <a:p>
            <a:pPr marL="0" indent="0">
              <a:buNone/>
            </a:pPr>
            <a:r>
              <a:rPr lang="en-US" sz="2000" dirty="0"/>
              <a:t>5.Predicting final disease using Ensemble learning(</a:t>
            </a:r>
            <a:r>
              <a:rPr lang="en-US" sz="2000" dirty="0" err="1">
                <a:ea typeface="+mn-lt"/>
                <a:cs typeface="+mn-lt"/>
              </a:rPr>
              <a:t>XGBoost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LightGBM</a:t>
            </a:r>
            <a:r>
              <a:rPr lang="en-US" sz="2000" dirty="0">
                <a:ea typeface="+mn-lt"/>
                <a:cs typeface="+mn-lt"/>
              </a:rPr>
              <a:t>, and Random Forest</a:t>
            </a:r>
            <a:r>
              <a:rPr lang="en-US" sz="2000" dirty="0"/>
              <a:t>).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6.Explainability Using SHAP &amp; LIME.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8333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squares&#10;&#10;AI-generated content may be incorrect.">
            <a:extLst>
              <a:ext uri="{FF2B5EF4-FFF2-40B4-BE49-F238E27FC236}">
                <a16:creationId xmlns:a16="http://schemas.microsoft.com/office/drawing/2014/main" id="{179A4DFD-E68E-8340-B907-A5CFB0F3D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999" y="1227531"/>
            <a:ext cx="10253381" cy="447917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5F47C1-1C20-FEBF-EE6D-929366478702}"/>
              </a:ext>
            </a:extLst>
          </p:cNvPr>
          <p:cNvSpPr txBox="1"/>
          <p:nvPr/>
        </p:nvSpPr>
        <p:spPr>
          <a:xfrm>
            <a:off x="871574" y="603398"/>
            <a:ext cx="32026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/>
              <a:t>Program Flow:</a:t>
            </a:r>
          </a:p>
        </p:txBody>
      </p:sp>
    </p:spTree>
    <p:extLst>
      <p:ext uri="{BB962C8B-B14F-4D97-AF65-F5344CB8AC3E}">
        <p14:creationId xmlns:p14="http://schemas.microsoft.com/office/powerpoint/2010/main" val="386652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278C-594C-D0A7-A2B4-61144CA41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3F73C-8B8D-4C76-061D-C72EF1C98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950"/>
            <a:ext cx="10515600" cy="558701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3600" b="1" dirty="0"/>
              <a:t>Outcomes</a:t>
            </a:r>
            <a:endParaRPr lang="en-US" sz="3600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Improved Accuracy:</a:t>
            </a:r>
          </a:p>
          <a:p>
            <a:pPr marL="971550" lvl="1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5-10% improvement compared to traditional ML.</a:t>
            </a:r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Better Generalization:</a:t>
            </a:r>
          </a:p>
          <a:p>
            <a:pPr marL="971550" lvl="1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Works well across multiple disease datasets.</a:t>
            </a:r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Transparent Predictions:</a:t>
            </a:r>
            <a:endParaRPr lang="en-US" sz="2000" dirty="0"/>
          </a:p>
          <a:p>
            <a:pPr marL="971550" lvl="1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Doctors can understand model output using SHAP/LIME.</a:t>
            </a:r>
          </a:p>
          <a:p>
            <a:pPr marL="0" indent="0">
              <a:buNone/>
            </a:pPr>
            <a:r>
              <a:rPr lang="en-US" sz="3600" b="1" dirty="0">
                <a:ea typeface="+mn-lt"/>
                <a:cs typeface="+mn-lt"/>
              </a:rPr>
              <a:t>Timeline:</a:t>
            </a:r>
            <a:endParaRPr lang="en-US" b="1" dirty="0"/>
          </a:p>
          <a:p>
            <a:pPr marL="0" indent="0">
              <a:buNone/>
            </a:pPr>
            <a:endParaRPr lang="en-US" sz="2000"/>
          </a:p>
          <a:p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45EB89-DCDD-FF0F-D87C-988F13DBE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568148"/>
              </p:ext>
            </p:extLst>
          </p:nvPr>
        </p:nvGraphicFramePr>
        <p:xfrm>
          <a:off x="3051707" y="3585025"/>
          <a:ext cx="718236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6350">
                  <a:extLst>
                    <a:ext uri="{9D8B030D-6E8A-4147-A177-3AD203B41FA5}">
                      <a16:colId xmlns:a16="http://schemas.microsoft.com/office/drawing/2014/main" val="1981815343"/>
                    </a:ext>
                  </a:extLst>
                </a:gridCol>
                <a:gridCol w="2806013">
                  <a:extLst>
                    <a:ext uri="{9D8B030D-6E8A-4147-A177-3AD203B41FA5}">
                      <a16:colId xmlns:a16="http://schemas.microsoft.com/office/drawing/2014/main" val="1308563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  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Timeframe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128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Data 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Week 1–2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781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Literature Review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Week 2–3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92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Model Development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Week 4–6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20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Integration + Testing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Week 7–8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274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Evaluation &amp; Explainability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Week 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944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Final Report &amp; Presentation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Week 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429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876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A4CD9-6C90-E231-9B12-88D15923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E70F5-2359-D80C-DB38-E5D4C7020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950"/>
            <a:ext cx="10515600" cy="558701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3600" b="1" dirty="0"/>
              <a:t>Conclusion</a:t>
            </a:r>
            <a:endParaRPr lang="en-US" sz="3600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Developed a </a:t>
            </a:r>
            <a:r>
              <a:rPr lang="en-US" sz="2000" b="1" dirty="0">
                <a:ea typeface="+mn-lt"/>
                <a:cs typeface="+mn-lt"/>
              </a:rPr>
              <a:t>hybrid AI system</a:t>
            </a:r>
            <a:r>
              <a:rPr lang="en-US" sz="2000" dirty="0">
                <a:ea typeface="+mn-lt"/>
                <a:cs typeface="+mn-lt"/>
              </a:rPr>
              <a:t> for disease detection using Transfer + Ensemble Learning.</a:t>
            </a:r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Introduced </a:t>
            </a:r>
            <a:r>
              <a:rPr lang="en-US" sz="2000" b="1" dirty="0">
                <a:ea typeface="+mn-lt"/>
                <a:cs typeface="+mn-lt"/>
              </a:rPr>
              <a:t>explainability</a:t>
            </a:r>
            <a:r>
              <a:rPr lang="en-US" sz="2000" dirty="0">
                <a:ea typeface="+mn-lt"/>
                <a:cs typeface="+mn-lt"/>
              </a:rPr>
              <a:t> to build trust with medical professionals.</a:t>
            </a:r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Achieved </a:t>
            </a:r>
            <a:r>
              <a:rPr lang="en-US" sz="2000" b="1" dirty="0">
                <a:ea typeface="+mn-lt"/>
                <a:cs typeface="+mn-lt"/>
              </a:rPr>
              <a:t>higher accuracy</a:t>
            </a:r>
            <a:r>
              <a:rPr lang="en-US" sz="2000" dirty="0">
                <a:ea typeface="+mn-lt"/>
                <a:cs typeface="+mn-lt"/>
              </a:rPr>
              <a:t> and </a:t>
            </a:r>
            <a:r>
              <a:rPr lang="en-US" sz="2000" b="1" dirty="0">
                <a:ea typeface="+mn-lt"/>
                <a:cs typeface="+mn-lt"/>
              </a:rPr>
              <a:t>reliable predictions</a:t>
            </a:r>
            <a:r>
              <a:rPr lang="en-US" sz="2000" dirty="0">
                <a:ea typeface="+mn-lt"/>
                <a:cs typeface="+mn-lt"/>
              </a:rPr>
              <a:t> across various datasets.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endParaRPr lang="en-US" sz="2000"/>
          </a:p>
          <a:p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911173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678C7-F108-32C6-12B0-775A122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849" y="2764395"/>
            <a:ext cx="10515600" cy="1325563"/>
          </a:xfrm>
        </p:spPr>
        <p:txBody>
          <a:bodyPr/>
          <a:lstStyle/>
          <a:p>
            <a:pPr algn="ctr"/>
            <a:r>
              <a:rPr lang="en-US" b="1" i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14859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Disease Detection Using Ensemble Learning , Transfer Learning and Explainable AI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165</cp:revision>
  <dcterms:created xsi:type="dcterms:W3CDTF">2013-07-15T20:26:40Z</dcterms:created>
  <dcterms:modified xsi:type="dcterms:W3CDTF">2025-06-06T06:42:46Z</dcterms:modified>
</cp:coreProperties>
</file>